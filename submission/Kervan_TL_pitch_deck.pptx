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/>
              <a:t>Team name: TL  ·  Taivanbat Bayarsaikhan (leader), Lkhagvadorj Munkhdalai</a:t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1" marL="0" rtl="0" algn="l">
              <a:buNone/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GB" sz="1200" b="0">
                <a:latin typeface="Google Sans Flex"/>
                <a:ea typeface="Google Sans Flex"/>
                <a:cs typeface="Google Sans Flex"/>
                <a:sym typeface="Google Sans Flex"/>
              </a:rPr>
              <a:t>AI Engineers &amp; Data Scientists at M bank, Mongolia's first neobank (fully digital, licensed 2022)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1" marL="0" rtl="0" algn="l">
              <a:buNone/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GB" sz="1100" b="0">
                <a:latin typeface="Google Sans Flex"/>
                <a:ea typeface="Google Sans Flex"/>
                <a:cs typeface="Google Sans Flex"/>
                <a:sym typeface="Google Sans Flex"/>
              </a:rPr>
              <a:t>Problem Statement: BFSI — Intelligent Risk, Fraud &amp; Financial Experiences. Kervan Credit Passport: an AI underwriting agent that turns a small business's informal records (ledger photos, bank statements, payment exports) into a verified, explainable credit passport a bank can act on. Demo market: Mongolia.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1" marL="0" rtl="0" algn="l">
              <a:buNone/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Picture 56" descr="mbank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4370832"/>
            <a:ext cx="1463040" cy="614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20040" y="1234440"/>
            <a:ext cx="8503920" cy="3703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The problem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917"/>
                </a:solidFill>
                <a:latin typeface="Arial"/>
              </a:rPr>
              <a:t>•  Most Mongolian micro and small businesses keep their books in a handwritten ledger, a bank account and a QR payment app. Banks cannot underwrite that at scale, so thin-file businesses are refused or overpriced.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917"/>
                </a:solidFill>
                <a:latin typeface="Arial"/>
              </a:rPr>
              <a:t>•  Declared figures are unverifiable, manual review is slow, and decisions are opaque to the owner.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Kervan Credit Passport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917"/>
                </a:solidFill>
                <a:latin typeface="Arial"/>
              </a:rPr>
              <a:t>•  The owner uploads a ledger photo, a bank statement (PDF/CSV) and a payment export, and declares revenue, tenure, amount and tenor.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917"/>
                </a:solidFill>
                <a:latin typeface="Arial"/>
              </a:rPr>
              <a:t>•  In about a minute the agent returns a credit passport (grade K1–K7 with an indicative PD, rate band and suggested limit from Kervan's v0.1 policy scorecard, to be recalibrated on partner-bank data), an owner explanation in English and Mongolian with a re-scored improvement plan, and an underwriter-ready credit memo with an evidence appendix.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917"/>
                </a:solidFill>
                <a:latin typeface="Arial"/>
              </a:rPr>
              <a:t>•  Core principle: Gemini reads, verifies, explains and writes; points, penalties and grade come only from a deterministic, auditable scorecard. Gemini never computes a score and can never raise one: at most it tightens an input's verification status, and its flags carry no penalty.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C1917"/>
                </a:solidFill>
                <a:latin typeface="Arial"/>
              </a:rPr>
              <a:t>•  Banks receive anonymized passports and make indicative offers; identity is revealed only when the business accepts, and the bank's own KYC and credit approval follow before anything is disbursed.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20040" y="2011680"/>
            <a:ext cx="850392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How it differs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Verification, not extraction: declared vs documented and documents vs each other (ledger vs bank, payments vs bank, totals vs re-summed rows, account holder, tenure vs account age); arithmetic in Python; every figure traced to a page or row.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Explainable by construction: a points scorecard with reason codes; self-declared inputs count half, inconsistent inputs count zero.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Reads the records people actually have: handwritten Mongolian ledger photos, local bank CSV/PDF exports, payment settlements.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How it solves the problem · USP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Banks: an underwriter-ready memo and evidence trail in a minute, inconsistencies flagged; every memo is a draft for a human underwriter (K1–K2 need sign-off, K3–K6 are referred, K7 gets no standard offer).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Owners: a plain-language grade in Mongolian and an improvement plan with gains computed by re-running the scorer.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USP: trust by design — number guardrails, no protected attributes, cross-source consistency checks today (authenticity and registration documents on the roadmap), identity disclosure controlled by the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20040" y="1234440"/>
            <a:ext cx="4206240" cy="3703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Agent pipeline (live, streamed to the UI)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C1917"/>
                </a:solidFill>
                <a:latin typeface="Arial"/>
              </a:rPr>
              <a:t>•  READ: Gemini multimodal, structured JSON; monthly figures with document + page/row pointers.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C1917"/>
                </a:solidFill>
                <a:latin typeface="Arial"/>
              </a:rPr>
              <a:t>•  VERIFY: Python re-sums CSVs and checks continuity, volatility, declared-vs-bank, ledger-vs-bank, payments-vs-bank, account age; Gemini adds qualitative checks; the more conservative status wins.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C1917"/>
                </a:solidFill>
                <a:latin typeface="Arial"/>
              </a:rPr>
              <a:t>•  SCORE: deterministic scorecard, no LLM; per-factor points, reason codes, penalties.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C1917"/>
                </a:solidFill>
                <a:latin typeface="Arial"/>
              </a:rPr>
              <a:t>•  EXPLAIN: owner summary in English and Mongolian; improvement plan with re-scored gains.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C1917"/>
                </a:solidFill>
                <a:latin typeface="Arial"/>
              </a:rPr>
              <a:t>•  WRITE: credit memo with cash-flow analysis, risks, mitigants, scorecard table and evidence appendix.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3440" y="1234440"/>
            <a:ext cx="4160520" cy="3703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Product views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C1917"/>
                </a:solidFill>
                <a:latin typeface="Arial"/>
              </a:rPr>
              <a:t>•  Business: loan request, uploads, live pipeline, passport card with status-encoded factor bars, flags, EN/MN toggle, improvement plan, offers.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C1917"/>
                </a:solidFill>
                <a:latin typeface="Arial"/>
              </a:rPr>
              <a:t>•  Bank: anonymized passport list, flags, memo, make-offer; identity revealed only when the business accepts.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C1917"/>
                </a:solidFill>
                <a:latin typeface="Arial"/>
              </a:rPr>
              <a:t>•  Agent trust: guardrails, step trace (prompt version, model, latency, schema validation, cache), scorer inputs, verification checks, evidence trail with links to the documents.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process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440" y="1188720"/>
            <a:ext cx="64211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shot_busi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4206240" cy="2885948"/>
          </a:xfrm>
          <a:prstGeom prst="rect">
            <a:avLst/>
          </a:prstGeom>
        </p:spPr>
      </p:pic>
      <p:pic>
        <p:nvPicPr>
          <p:cNvPr id="105" name="Picture 104" descr="shot_pass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4206240" cy="2935605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Left: loan request and live agent pipeline. Right: the credit passport with status-encoded factor bars, flags and the re-scored improvement plan.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200" y="1143000"/>
            <a:ext cx="5689600" cy="320040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Browser (static HTML/JS served by FastAPI) → Cloud Run service → Gemini 3.8 Flash via google-genai (structured JSON, one call per document in parallel). Build: Cloud Build from source → Artifact Registry. Secrets: Secret Manager → env at runtime. Progress streams back over Server-Sent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20040" y="1234440"/>
            <a:ext cx="4206240" cy="3703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Google Cloud and AI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Gemini 3.8 Flash via the google-genai SDK: JSON output with a Pydantic response_schema on all four model steps; low thinking level for sub-minute runs; one retry feeding the validation error back; per-call timeout; cache keyed by model, prompt version and file hash. The same code runs on Vertex AI with the Cloud Run service account (no API key).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Cloud Run: deploy from source (Cloud Build → Artifact Registry), 1 vCPU / 1 GiB, scales to zero. Secret Manager holds the Gemini key; the runtime service account has only secretAccessor; no secret in the repo or image.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Storage: JSON in /tmp on the Cloud Run instance for the demo (resets on cold start); Firestore persistence for passports, offers and traces is the planned next step.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Access: the demo service is public and holds synthetic data only; Cloud Run IAM or Identity-Aware Proxy gates it before real customer documents.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63440" y="1234440"/>
            <a:ext cx="4160520" cy="3703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Application stack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Python 3.12, FastAPI, Pydantic v2; Server-Sent Events for live progress.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Deterministic verification math and a points scorecard in one config file; unit tests pin the behaviour.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Number guardrail: every figure in generated text must exist in the inputs; retry once, then deterministic fallback.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Front-end: one static page, vanilla HTML/CSS/JS.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C1917"/>
                </a:solidFill>
                <a:latin typeface="Arial"/>
              </a:rPr>
              <a:t>•  Prompts versioned as text files with the guardrails inside.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20040" y="1234440"/>
            <a:ext cx="8503920" cy="3703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Per assessment (prototype measurements)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4 to 7 Gemini Flash calls per assessment (one per document plus verify, explain, write); 60–120k input tokens; about US$0.02–0.05 at Flash list prices. Repeated runs on the same files are served from the cache at zero cost.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Cloud Run with scale-to-zero: compute only while a request runs (~1 vCPU-minute per assessment); within the free tier for pilot volumes.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Monthly, indicative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Pilot (1,000 assessments / month): ≈ US$30–60 Gemini + ≈ US$5–15 Cloud Run + Secret Manager/Artifact Registry cents.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Scale (50,000 assessments / month): ≈ US$1.5–2.5k Gemini + ≈ US$150–300 Cloud Run; Firestore adds cents per thousand operations.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No per-seat licences; the scorecard and verification run in plain Python.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Estimates use public list prices in October 2026 and the prototype's measured token volumes; actual cost depends on document sizes.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shot_ba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4206240" cy="3096260"/>
          </a:xfrm>
          <a:prstGeom prst="rect">
            <a:avLst/>
          </a:prstGeom>
        </p:spPr>
      </p:pic>
      <p:pic>
        <p:nvPicPr>
          <p:cNvPr id="137" name="Picture 136" descr="shot_tru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4206240" cy="2935605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Left: Bank view — anonymized passport, offer, Gemini-drafted credit memo. Right: Agent trust — guardrails, step trace and evidence trail.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320040" y="1188720"/>
          <a:ext cx="850392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603504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T="27432" marB="27432">
                    <a:solidFill>
                      <a:srgbClr val="0B6B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Result (live Gemini 3.8 Flash, prototype)</a:t>
                      </a:r>
                    </a:p>
                  </a:txBody>
                  <a:tcPr marT="27432" marB="27432">
                    <a:solidFill>
                      <a:srgbClr val="0B6B8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917"/>
                          </a:solidFill>
                          <a:latin typeface="Arial"/>
                        </a:rPr>
                        <a:t>End-to-end run, 4 documents, cold</a:t>
                      </a:r>
                    </a:p>
                  </a:txBody>
                  <a:tcPr marT="27432" marB="27432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917"/>
                          </a:solidFill>
                          <a:latin typeface="Arial"/>
                        </a:rPr>
                        <a:t>≈ 60 s wall time (reads in parallel); 25–40 s for 1–3 documents</a:t>
                      </a:r>
                    </a:p>
                  </a:txBody>
                  <a:tcPr marT="27432" marB="27432">
                    <a:solidFill>
                      <a:srgbClr val="FAF9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917"/>
                          </a:solidFill>
                          <a:latin typeface="Arial"/>
                        </a:rPr>
                        <a:t>Per step latency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917"/>
                          </a:solidFill>
                          <a:latin typeface="Arial"/>
                        </a:rPr>
                        <a:t>READ 4–20 s per document · VERIFY ≈ 9 s · SCORE &lt; 5 ms · EXPLAIN ≈ 6 s · WRITE ≈ 14 s; repeated runs &lt; 25 s (document reads cached)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917"/>
                          </a:solidFill>
                          <a:latin typeface="Arial"/>
                        </a:rPr>
                        <a:t>Extraction accuracy on synthetic fixtures</a:t>
                      </a:r>
                    </a:p>
                  </a:txBody>
                  <a:tcPr marT="27432" marB="27432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917"/>
                          </a:solidFill>
                          <a:latin typeface="Arial"/>
                        </a:rPr>
                        <a:t>12/12 months exact per document type (Pillow-rendered ledger photo, bank CSV, bank PDF, payment export) on three invented businesses; hackathon rules: no real data; not yet measured on real customer documents</a:t>
                      </a:r>
                    </a:p>
                  </a:txBody>
                  <a:tcPr marT="27432" marB="27432">
                    <a:solidFill>
                      <a:srgbClr val="FAF9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917"/>
                          </a:solidFill>
                          <a:latin typeface="Arial"/>
                        </a:rPr>
                        <a:t>Schema validation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917"/>
                          </a:solidFill>
                          <a:latin typeface="Arial"/>
                        </a:rPr>
                        <a:t>100% of model calls validated on the first attempt in test runs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917"/>
                          </a:solidFill>
                          <a:latin typeface="Arial"/>
                        </a:rPr>
                        <a:t>Number guardrail</a:t>
                      </a:r>
                    </a:p>
                  </a:txBody>
                  <a:tcPr marT="27432" marB="27432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917"/>
                          </a:solidFill>
                          <a:latin typeface="Arial"/>
                        </a:rPr>
                        <a:t>≈ 100 numbers checked per memo, 0 invented figures in test runs</a:t>
                      </a:r>
                    </a:p>
                  </a:txBody>
                  <a:tcPr marT="27432" marB="27432">
                    <a:solidFill>
                      <a:srgbClr val="FAF9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917"/>
                          </a:solidFill>
                          <a:latin typeface="Arial"/>
                        </a:rPr>
                        <a:t>Verification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917"/>
                          </a:solidFill>
                          <a:latin typeface="Arial"/>
                        </a:rPr>
                        <a:t>18 checks per assessment; declared-vs-bank gap flagged (−3 points) · thin file flagged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917"/>
                          </a:solidFill>
                          <a:latin typeface="Arial"/>
                        </a:rPr>
                        <a:t>Tests</a:t>
                      </a:r>
                    </a:p>
                  </a:txBody>
                  <a:tcPr marT="27432" marB="27432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917"/>
                          </a:solidFill>
                          <a:latin typeface="Arial"/>
                        </a:rPr>
                        <a:t>Unit tests for the scorer, verification math, uploads and storage pass</a:t>
                      </a:r>
                    </a:p>
                  </a:txBody>
                  <a:tcPr marT="27432" marB="27432">
                    <a:solidFill>
                      <a:srgbClr val="FAF9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C1917"/>
                          </a:solidFill>
                          <a:latin typeface="Arial"/>
                        </a:rPr>
                        <a:t>Scorecard calibration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C1917"/>
                          </a:solidFill>
                          <a:latin typeface="Arial"/>
                        </a:rPr>
                        <a:t>Not yet calibrated: Kervan v0.1 weights, PD estimates and rate bands are expert-set initial policy, pinned by tests, to be recalibrated on partner-bank portfolio data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20040" y="1234440"/>
            <a:ext cx="8503920" cy="3703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Next 90 days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Firebase Authentication for business and bank logins (ID tokens verified in FastAPI) and Identity-Aware Proxy in front of the bank view; Cloud Storage with signed URLs for uploaded documents.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Registration and tax documents to fully verify tenure and identity; e-signature consent for data sharing.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Scorecard calibration on portfolio data with a partner bank; monitoring of grade distributions and overrides; step traces to Cloud Logging.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Gemini through Vertex AI so data stays in-region; Cloud Build trigger on main running the tests before each deploy; bank-side API into loan-origination systems.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6B85"/>
                </a:solidFill>
                <a:latin typeface="Arial"/>
              </a:rPr>
              <a:t>Scale story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Same pipeline for Kazakhstan, Uzbekistan and Kyrgyzstan: a per-market scorecard config and prompt language notes; schemas, verification math, guardrails and deployment stay the same.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C1917"/>
                </a:solidFill>
                <a:latin typeface="Arial"/>
              </a:rPr>
              <a:t>•  Owners carry their passport between lenders and refresh it as records grow — the credit file follows the business, not the bank.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20040" y="2103120"/>
            <a:ext cx="8503920" cy="2743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B6B85"/>
                </a:solidFill>
                <a:latin typeface="Arial"/>
              </a:rPr>
              <a:t>GitHub public repository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Arial"/>
              </a:rPr>
              <a:t>https://github.com/taivnaaiwnl/singsing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B6B85"/>
                </a:solidFill>
                <a:latin typeface="Arial"/>
              </a:rPr>
              <a:t>Demo video (3–4 minutes)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Arial"/>
              </a:rPr>
              <a:t>(demo video link — fill in after upload)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B6B85"/>
                </a:solidFill>
                <a:latin typeface="Arial"/>
              </a:rPr>
              <a:t>Final product link (Cloud Run)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Arial"/>
              </a:rPr>
              <a:t>https://kervan-credit-passport-793182253173.asia-northeast1.run.app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0B6B85"/>
                </a:solidFill>
                <a:latin typeface="Arial"/>
              </a:rPr>
              <a:t>Kervan Credit Passport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C1917"/>
                </a:solidFill>
                <a:latin typeface="Arial"/>
              </a:rPr>
              <a:t>Gemini reads, verifies, explains and writes. The score comes only from the scorecard.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Team TL · Taivanbat Bayarsaikhan · Lkhagvadorj Munkhdalai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AI Engineers &amp; Data Scientists at M bank, Mongolia's first neobank</a:t>
            </a:r>
          </a:p>
        </p:txBody>
      </p:sp>
      <p:pic>
        <p:nvPicPr>
          <p:cNvPr id="168" name="Picture 167" descr="mbank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868680"/>
            <a:ext cx="1737360" cy="7296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